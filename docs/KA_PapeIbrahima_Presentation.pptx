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66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fr-FR" smtClean="0"/>
              <a:t>Modifiez le style du titre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Modifiez le style des sous-titres du masque</a:t>
            </a:r>
            <a:endParaRPr lang="en-US" dirty="0"/>
          </a:p>
        </p:txBody>
      </p:sp>
      <p:sp>
        <p:nvSpPr>
          <p:cNvPr id="4" name="Date Placeholder 3"/>
          <p:cNvSpPr>
            <a:spLocks noGrp="1"/>
          </p:cNvSpPr>
          <p:nvPr>
            <p:ph type="dt" sz="half" idx="10"/>
          </p:nvPr>
        </p:nvSpPr>
        <p:spPr/>
        <p:txBody>
          <a:bodyPr/>
          <a:lstStyle/>
          <a:p>
            <a:fld id="{D8A4529D-E4CD-449F-84BB-45E3CF35A92A}" type="datetimeFigureOut">
              <a:rPr lang="fr-FR" smtClean="0"/>
              <a:t>15/06/2026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23300DC-E0CA-42E9-B0BF-2EB784284296}" type="slidenum">
              <a:rPr lang="fr-FR" smtClean="0"/>
              <a:t>‹N°›</a:t>
            </a:fld>
            <a:endParaRPr lang="fr-FR"/>
          </a:p>
        </p:txBody>
      </p:sp>
    </p:spTree>
    <p:extLst>
      <p:ext uri="{BB962C8B-B14F-4D97-AF65-F5344CB8AC3E}">
        <p14:creationId xmlns:p14="http://schemas.microsoft.com/office/powerpoint/2010/main" val="96513093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fr-FR" smtClean="0"/>
              <a:t>Modifiez le style du titre</a:t>
            </a:r>
            <a:endParaRPr lang="en-US" dirty="0"/>
          </a:p>
        </p:txBody>
      </p:sp>
      <p:sp>
        <p:nvSpPr>
          <p:cNvPr id="3" name="Content Placeholder 2"/>
          <p:cNvSpPr>
            <a:spLocks noGrp="1"/>
          </p:cNvSpPr>
          <p:nvPr>
            <p:ph idx="1"/>
          </p:nvPr>
        </p:nvSpPr>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D8A4529D-E4CD-449F-84BB-45E3CF35A92A}" type="datetimeFigureOut">
              <a:rPr lang="fr-FR" smtClean="0"/>
              <a:t>15/06/2026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23300DC-E0CA-42E9-B0BF-2EB784284296}" type="slidenum">
              <a:rPr lang="fr-FR" smtClean="0"/>
              <a:t>‹N°›</a:t>
            </a:fld>
            <a:endParaRPr lang="fr-FR"/>
          </a:p>
        </p:txBody>
      </p:sp>
    </p:spTree>
    <p:extLst>
      <p:ext uri="{BB962C8B-B14F-4D97-AF65-F5344CB8AC3E}">
        <p14:creationId xmlns:p14="http://schemas.microsoft.com/office/powerpoint/2010/main" val="422766402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fr-FR" smtClean="0"/>
              <a:t>Modifiez le style du titre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D8A4529D-E4CD-449F-84BB-45E3CF35A92A}" type="datetimeFigureOut">
              <a:rPr lang="fr-FR" smtClean="0"/>
              <a:t>15/06/2026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23300DC-E0CA-42E9-B0BF-2EB784284296}" type="slidenum">
              <a:rPr lang="fr-FR" smtClean="0"/>
              <a:t>‹N°›</a:t>
            </a:fld>
            <a:endParaRPr lang="fr-FR"/>
          </a:p>
        </p:txBody>
      </p:sp>
    </p:spTree>
    <p:extLst>
      <p:ext uri="{BB962C8B-B14F-4D97-AF65-F5344CB8AC3E}">
        <p14:creationId xmlns:p14="http://schemas.microsoft.com/office/powerpoint/2010/main" val="11785661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D8A4529D-E4CD-449F-84BB-45E3CF35A92A}" type="datetimeFigureOut">
              <a:rPr lang="fr-FR" smtClean="0"/>
              <a:t>15/06/2026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C23300DC-E0CA-42E9-B0BF-2EB784284296}" type="slidenum">
              <a:rPr lang="fr-FR" smtClean="0"/>
              <a:t>‹N°›</a:t>
            </a:fld>
            <a:endParaRPr lang="fr-FR"/>
          </a:p>
        </p:txBody>
      </p:sp>
    </p:spTree>
    <p:extLst>
      <p:ext uri="{BB962C8B-B14F-4D97-AF65-F5344CB8AC3E}">
        <p14:creationId xmlns:p14="http://schemas.microsoft.com/office/powerpoint/2010/main" val="24605642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smtClean="0"/>
              <a:t>Modifiez le style du titre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D8A4529D-E4CD-449F-84BB-45E3CF35A92A}" type="datetimeFigureOut">
              <a:rPr lang="fr-FR" smtClean="0"/>
              <a:t>15/06/2026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C23300DC-E0CA-42E9-B0BF-2EB784284296}" type="slidenum">
              <a:rPr lang="fr-FR" smtClean="0"/>
              <a:t>‹N°›</a:t>
            </a:fld>
            <a:endParaRPr lang="fr-FR"/>
          </a:p>
        </p:txBody>
      </p:sp>
    </p:spTree>
    <p:extLst>
      <p:ext uri="{BB962C8B-B14F-4D97-AF65-F5344CB8AC3E}">
        <p14:creationId xmlns:p14="http://schemas.microsoft.com/office/powerpoint/2010/main" val="1027616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D8A4529D-E4CD-449F-84BB-45E3CF35A92A}" type="datetimeFigureOut">
              <a:rPr lang="fr-FR" smtClean="0"/>
              <a:t>15/06/2026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C23300DC-E0CA-42E9-B0BF-2EB784284296}" type="slidenum">
              <a:rPr lang="fr-FR" smtClean="0"/>
              <a:t>‹N°›</a:t>
            </a:fld>
            <a:endParaRPr lang="fr-FR"/>
          </a:p>
        </p:txBody>
      </p:sp>
    </p:spTree>
    <p:extLst>
      <p:ext uri="{BB962C8B-B14F-4D97-AF65-F5344CB8AC3E}">
        <p14:creationId xmlns:p14="http://schemas.microsoft.com/office/powerpoint/2010/main" val="10193184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A4529D-E4CD-449F-84BB-45E3CF35A92A}" type="datetimeFigureOut">
              <a:rPr lang="fr-FR" smtClean="0"/>
              <a:t>15/06/2026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C23300DC-E0CA-42E9-B0BF-2EB784284296}" type="slidenum">
              <a:rPr lang="fr-FR" smtClean="0"/>
              <a:t>‹N°›</a:t>
            </a:fld>
            <a:endParaRPr lang="fr-FR"/>
          </a:p>
        </p:txBody>
      </p:sp>
    </p:spTree>
    <p:extLst>
      <p:ext uri="{BB962C8B-B14F-4D97-AF65-F5344CB8AC3E}">
        <p14:creationId xmlns:p14="http://schemas.microsoft.com/office/powerpoint/2010/main" val="15520465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fr-FR" smtClean="0"/>
              <a:t>Modifiez le style du titre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fr-FR" smtClean="0"/>
              <a:t>Modifiez les styles du texte du masque</a:t>
            </a:r>
          </a:p>
        </p:txBody>
      </p:sp>
      <p:sp>
        <p:nvSpPr>
          <p:cNvPr id="5" name="Date Placeholder 4"/>
          <p:cNvSpPr>
            <a:spLocks noGrp="1"/>
          </p:cNvSpPr>
          <p:nvPr>
            <p:ph type="dt" sz="half" idx="10"/>
          </p:nvPr>
        </p:nvSpPr>
        <p:spPr/>
        <p:txBody>
          <a:bodyPr/>
          <a:lstStyle/>
          <a:p>
            <a:fld id="{D8A4529D-E4CD-449F-84BB-45E3CF35A92A}" type="datetimeFigureOut">
              <a:rPr lang="fr-FR" smtClean="0"/>
              <a:t>15/06/2026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C23300DC-E0CA-42E9-B0BF-2EB784284296}" type="slidenum">
              <a:rPr lang="fr-FR" smtClean="0"/>
              <a:t>‹N°›</a:t>
            </a:fld>
            <a:endParaRPr lang="fr-FR"/>
          </a:p>
        </p:txBody>
      </p:sp>
    </p:spTree>
    <p:extLst>
      <p:ext uri="{BB962C8B-B14F-4D97-AF65-F5344CB8AC3E}">
        <p14:creationId xmlns:p14="http://schemas.microsoft.com/office/powerpoint/2010/main" val="55240923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Date Placeholder 4"/>
          <p:cNvSpPr>
            <a:spLocks noGrp="1"/>
          </p:cNvSpPr>
          <p:nvPr>
            <p:ph type="dt" sz="half" idx="10"/>
          </p:nvPr>
        </p:nvSpPr>
        <p:spPr/>
        <p:txBody>
          <a:bodyPr/>
          <a:lstStyle/>
          <a:p>
            <a:fld id="{D8A4529D-E4CD-449F-84BB-45E3CF35A92A}" type="datetimeFigureOut">
              <a:rPr lang="fr-FR" smtClean="0"/>
              <a:t>15/06/2026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C23300DC-E0CA-42E9-B0BF-2EB784284296}" type="slidenum">
              <a:rPr lang="fr-FR" smtClean="0"/>
              <a:t>‹N°›</a:t>
            </a:fld>
            <a:endParaRPr lang="fr-FR"/>
          </a:p>
        </p:txBody>
      </p:sp>
    </p:spTree>
    <p:extLst>
      <p:ext uri="{BB962C8B-B14F-4D97-AF65-F5344CB8AC3E}">
        <p14:creationId xmlns:p14="http://schemas.microsoft.com/office/powerpoint/2010/main" val="42678365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fr-FR" smtClean="0"/>
              <a:t>Modifiez le style du titre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D8A4529D-E4CD-449F-84BB-45E3CF35A92A}" type="datetimeFigureOut">
              <a:rPr lang="fr-FR" smtClean="0"/>
              <a:t>15/06/2026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23300DC-E0CA-42E9-B0BF-2EB784284296}" type="slidenum">
              <a:rPr lang="fr-FR" smtClean="0"/>
              <a:t>‹N°›</a:t>
            </a:fld>
            <a:endParaRPr lang="fr-FR"/>
          </a:p>
        </p:txBody>
      </p:sp>
    </p:spTree>
    <p:extLst>
      <p:ext uri="{BB962C8B-B14F-4D97-AF65-F5344CB8AC3E}">
        <p14:creationId xmlns:p14="http://schemas.microsoft.com/office/powerpoint/2010/main" val="32100696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smtClean="0"/>
              <a:t>Modifiez le style du titre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smtClean="0"/>
              <a:t>Modifiez les styles du texte du masque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D8A4529D-E4CD-449F-84BB-45E3CF35A92A}" type="datetimeFigureOut">
              <a:rPr lang="fr-FR" smtClean="0"/>
              <a:t>15/06/2026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23300DC-E0CA-42E9-B0BF-2EB784284296}" type="slidenum">
              <a:rPr lang="fr-FR" smtClean="0"/>
              <a:t>‹N°›</a:t>
            </a:fld>
            <a:endParaRPr lang="fr-FR"/>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56638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fr-FR" smtClean="0"/>
              <a:t>Modifiez le style du titre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D8A4529D-E4CD-449F-84BB-45E3CF35A92A}" type="datetimeFigureOut">
              <a:rPr lang="fr-FR" smtClean="0"/>
              <a:t>15/06/2026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23300DC-E0CA-42E9-B0BF-2EB784284296}" type="slidenum">
              <a:rPr lang="fr-FR" smtClean="0"/>
              <a:t>‹N°›</a:t>
            </a:fld>
            <a:endParaRPr lang="fr-FR"/>
          </a:p>
        </p:txBody>
      </p:sp>
    </p:spTree>
    <p:extLst>
      <p:ext uri="{BB962C8B-B14F-4D97-AF65-F5344CB8AC3E}">
        <p14:creationId xmlns:p14="http://schemas.microsoft.com/office/powerpoint/2010/main" val="34446283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smtClean="0"/>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smtClean="0"/>
              <a:t>Modifiez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D8A4529D-E4CD-449F-84BB-45E3CF35A92A}" type="datetimeFigureOut">
              <a:rPr lang="fr-FR" smtClean="0"/>
              <a:t>15/06/2026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23300DC-E0CA-42E9-B0BF-2EB784284296}" type="slidenum">
              <a:rPr lang="fr-FR" smtClean="0"/>
              <a:t>‹N°›</a:t>
            </a:fld>
            <a:endParaRPr lang="fr-F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6133485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fr-FR" smtClean="0"/>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smtClean="0"/>
              <a:t>Modifiez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D8A4529D-E4CD-449F-84BB-45E3CF35A92A}" type="datetimeFigureOut">
              <a:rPr lang="fr-FR" smtClean="0"/>
              <a:t>15/06/2026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23300DC-E0CA-42E9-B0BF-2EB784284296}" type="slidenum">
              <a:rPr lang="fr-FR" smtClean="0"/>
              <a:t>‹N°›</a:t>
            </a:fld>
            <a:endParaRPr lang="fr-FR"/>
          </a:p>
        </p:txBody>
      </p:sp>
    </p:spTree>
    <p:extLst>
      <p:ext uri="{BB962C8B-B14F-4D97-AF65-F5344CB8AC3E}">
        <p14:creationId xmlns:p14="http://schemas.microsoft.com/office/powerpoint/2010/main" val="41060763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D8A4529D-E4CD-449F-84BB-45E3CF35A92A}" type="datetimeFigureOut">
              <a:rPr lang="fr-FR" smtClean="0"/>
              <a:t>15/06/2026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23300DC-E0CA-42E9-B0BF-2EB784284296}" type="slidenum">
              <a:rPr lang="fr-FR" smtClean="0"/>
              <a:t>‹N°›</a:t>
            </a:fld>
            <a:endParaRPr lang="fr-FR"/>
          </a:p>
        </p:txBody>
      </p:sp>
    </p:spTree>
    <p:extLst>
      <p:ext uri="{BB962C8B-B14F-4D97-AF65-F5344CB8AC3E}">
        <p14:creationId xmlns:p14="http://schemas.microsoft.com/office/powerpoint/2010/main" val="160333054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fr-FR" smtClean="0"/>
              <a:t>Modifiez le style du titre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D8A4529D-E4CD-449F-84BB-45E3CF35A92A}" type="datetimeFigureOut">
              <a:rPr lang="fr-FR" smtClean="0"/>
              <a:t>15/06/2026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23300DC-E0CA-42E9-B0BF-2EB784284296}" type="slidenum">
              <a:rPr lang="fr-FR" smtClean="0"/>
              <a:t>‹N°›</a:t>
            </a:fld>
            <a:endParaRPr lang="fr-FR"/>
          </a:p>
        </p:txBody>
      </p:sp>
    </p:spTree>
    <p:extLst>
      <p:ext uri="{BB962C8B-B14F-4D97-AF65-F5344CB8AC3E}">
        <p14:creationId xmlns:p14="http://schemas.microsoft.com/office/powerpoint/2010/main" val="16451379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fr-FR" smtClean="0"/>
              <a:t>Modifiez le style du titre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8A4529D-E4CD-449F-84BB-45E3CF35A92A}" type="datetimeFigureOut">
              <a:rPr lang="fr-FR" smtClean="0"/>
              <a:t>15/06/2026</a:t>
            </a:fld>
            <a:endParaRPr lang="fr-FR"/>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23300DC-E0CA-42E9-B0BF-2EB784284296}" type="slidenum">
              <a:rPr lang="fr-FR" smtClean="0"/>
              <a:t>‹N°›</a:t>
            </a:fld>
            <a:endParaRPr lang="fr-FR"/>
          </a:p>
        </p:txBody>
      </p:sp>
    </p:spTree>
    <p:extLst>
      <p:ext uri="{BB962C8B-B14F-4D97-AF65-F5344CB8AC3E}">
        <p14:creationId xmlns:p14="http://schemas.microsoft.com/office/powerpoint/2010/main" val="23717356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dirty="0"/>
              <a:t>PAGE DE TITRE</a:t>
            </a:r>
          </a:p>
        </p:txBody>
      </p:sp>
      <p:sp>
        <p:nvSpPr>
          <p:cNvPr id="3" name="Sous-titre 2"/>
          <p:cNvSpPr>
            <a:spLocks noGrp="1"/>
          </p:cNvSpPr>
          <p:nvPr>
            <p:ph type="subTitle" idx="1"/>
          </p:nvPr>
        </p:nvSpPr>
        <p:spPr/>
        <p:txBody>
          <a:bodyPr>
            <a:normAutofit fontScale="92500" lnSpcReduction="10000"/>
          </a:bodyPr>
          <a:lstStyle/>
          <a:p>
            <a:r>
              <a:rPr lang="fr-FR" dirty="0" smtClean="0"/>
              <a:t>Nom du projet : AfriTalent</a:t>
            </a:r>
            <a:br>
              <a:rPr lang="fr-FR" dirty="0" smtClean="0"/>
            </a:br>
            <a:r>
              <a:rPr lang="fr-FR" dirty="0" smtClean="0"/>
              <a:t>Présenté par : Pape Ibrahima KA</a:t>
            </a:r>
            <a:br>
              <a:rPr lang="fr-FR" dirty="0" smtClean="0"/>
            </a:br>
            <a:r>
              <a:rPr lang="fr-FR" dirty="0" smtClean="0"/>
              <a:t>Classe : L1 IAGE </a:t>
            </a:r>
            <a:br>
              <a:rPr lang="fr-FR" dirty="0" smtClean="0"/>
            </a:br>
            <a:r>
              <a:rPr lang="fr-FR" dirty="0" smtClean="0"/>
              <a:t>Date de soutenance : 00/00/2026</a:t>
            </a:r>
          </a:p>
          <a:p>
            <a:endParaRPr lang="fr-FR" dirty="0"/>
          </a:p>
        </p:txBody>
      </p:sp>
    </p:spTree>
    <p:extLst>
      <p:ext uri="{BB962C8B-B14F-4D97-AF65-F5344CB8AC3E}">
        <p14:creationId xmlns:p14="http://schemas.microsoft.com/office/powerpoint/2010/main" val="304854021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SOMMAIRE</a:t>
            </a:r>
          </a:p>
        </p:txBody>
      </p:sp>
      <p:sp>
        <p:nvSpPr>
          <p:cNvPr id="3" name="Espace réservé du contenu 2"/>
          <p:cNvSpPr>
            <a:spLocks noGrp="1"/>
          </p:cNvSpPr>
          <p:nvPr>
            <p:ph idx="1"/>
          </p:nvPr>
        </p:nvSpPr>
        <p:spPr/>
        <p:txBody>
          <a:bodyPr/>
          <a:lstStyle/>
          <a:p>
            <a:pPr>
              <a:buFont typeface="+mj-lt"/>
              <a:buAutoNum type="arabicPeriod"/>
            </a:pPr>
            <a:r>
              <a:rPr lang="fr-FR" dirty="0"/>
              <a:t>Présentation du </a:t>
            </a:r>
            <a:r>
              <a:rPr lang="fr-FR" dirty="0" smtClean="0"/>
              <a:t>projet</a:t>
            </a:r>
          </a:p>
          <a:p>
            <a:pPr>
              <a:buFont typeface="+mj-lt"/>
              <a:buAutoNum type="arabicPeriod"/>
            </a:pPr>
            <a:r>
              <a:rPr lang="fr-FR" dirty="0"/>
              <a:t>Choix de </a:t>
            </a:r>
            <a:r>
              <a:rPr lang="fr-FR" dirty="0" smtClean="0"/>
              <a:t>design</a:t>
            </a:r>
          </a:p>
          <a:p>
            <a:pPr>
              <a:buFont typeface="+mj-lt"/>
              <a:buAutoNum type="arabicPeriod"/>
            </a:pPr>
            <a:r>
              <a:rPr lang="fr-FR" dirty="0"/>
              <a:t>Architecture du </a:t>
            </a:r>
            <a:r>
              <a:rPr lang="fr-FR" dirty="0" smtClean="0"/>
              <a:t>site</a:t>
            </a:r>
          </a:p>
          <a:p>
            <a:pPr>
              <a:buFont typeface="+mj-lt"/>
              <a:buAutoNum type="arabicPeriod"/>
            </a:pPr>
            <a:r>
              <a:rPr lang="fr-FR" dirty="0"/>
              <a:t>Aspects </a:t>
            </a:r>
            <a:r>
              <a:rPr lang="fr-FR" dirty="0" smtClean="0"/>
              <a:t>techniques</a:t>
            </a:r>
          </a:p>
          <a:p>
            <a:pPr>
              <a:buFont typeface="+mj-lt"/>
              <a:buAutoNum type="arabicPeriod"/>
            </a:pPr>
            <a:r>
              <a:rPr lang="fr-FR" dirty="0"/>
              <a:t>Gestion du projet avec </a:t>
            </a:r>
            <a:r>
              <a:rPr lang="fr-FR" dirty="0" smtClean="0"/>
              <a:t>GitHub</a:t>
            </a:r>
          </a:p>
          <a:p>
            <a:pPr>
              <a:buFont typeface="+mj-lt"/>
              <a:buAutoNum type="arabicPeriod"/>
            </a:pPr>
            <a:r>
              <a:rPr lang="fr-FR" dirty="0"/>
              <a:t>Difficultés </a:t>
            </a:r>
            <a:r>
              <a:rPr lang="fr-FR" dirty="0" smtClean="0"/>
              <a:t>rencontrées</a:t>
            </a:r>
          </a:p>
          <a:p>
            <a:pPr>
              <a:buFont typeface="+mj-lt"/>
              <a:buAutoNum type="arabicPeriod"/>
            </a:pPr>
            <a:r>
              <a:rPr lang="fr-FR" dirty="0"/>
              <a:t>Ressources </a:t>
            </a:r>
            <a:r>
              <a:rPr lang="fr-FR" dirty="0" smtClean="0"/>
              <a:t>utilisées</a:t>
            </a:r>
          </a:p>
          <a:p>
            <a:pPr>
              <a:buFont typeface="+mj-lt"/>
              <a:buAutoNum type="arabicPeriod"/>
            </a:pPr>
            <a:r>
              <a:rPr lang="fr-FR" dirty="0" smtClean="0"/>
              <a:t>Démonstration</a:t>
            </a:r>
          </a:p>
          <a:p>
            <a:pPr>
              <a:buFont typeface="+mj-lt"/>
              <a:buAutoNum type="arabicPeriod"/>
            </a:pPr>
            <a:r>
              <a:rPr lang="fr-FR" dirty="0"/>
              <a:t>Conclusion</a:t>
            </a:r>
          </a:p>
        </p:txBody>
      </p:sp>
    </p:spTree>
    <p:extLst>
      <p:ext uri="{BB962C8B-B14F-4D97-AF65-F5344CB8AC3E}">
        <p14:creationId xmlns:p14="http://schemas.microsoft.com/office/powerpoint/2010/main" val="38147762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PRÉSENTATION DU PROJET</a:t>
            </a:r>
          </a:p>
        </p:txBody>
      </p:sp>
      <p:sp>
        <p:nvSpPr>
          <p:cNvPr id="3" name="Espace réservé du contenu 2"/>
          <p:cNvSpPr>
            <a:spLocks noGrp="1"/>
          </p:cNvSpPr>
          <p:nvPr>
            <p:ph idx="1"/>
          </p:nvPr>
        </p:nvSpPr>
        <p:spPr/>
        <p:txBody>
          <a:bodyPr/>
          <a:lstStyle/>
          <a:p>
            <a:r>
              <a:rPr lang="fr-FR" dirty="0"/>
              <a:t>Contexte </a:t>
            </a:r>
            <a:r>
              <a:rPr lang="fr-FR" dirty="0" smtClean="0"/>
              <a:t>:</a:t>
            </a:r>
          </a:p>
          <a:p>
            <a:pPr marL="0" indent="0" algn="just">
              <a:buNone/>
            </a:pPr>
            <a:r>
              <a:rPr lang="fr-FR" dirty="0"/>
              <a:t>Le marché du freelance tech en Afrique connaît une croissance explosive. De plus en plus de développeurs, designers et créateurs de contenu cherchent une plateforme fiable pour proposer leurs services et trouver des missions</a:t>
            </a:r>
            <a:r>
              <a:rPr lang="fr-FR" dirty="0" smtClean="0"/>
              <a:t>.</a:t>
            </a:r>
          </a:p>
          <a:p>
            <a:r>
              <a:rPr lang="fr-FR" dirty="0"/>
              <a:t>Objectif </a:t>
            </a:r>
            <a:r>
              <a:rPr lang="fr-FR" dirty="0" smtClean="0"/>
              <a:t>:</a:t>
            </a:r>
          </a:p>
          <a:p>
            <a:pPr marL="0" indent="0">
              <a:buNone/>
            </a:pPr>
            <a:r>
              <a:rPr lang="en-US" dirty="0" smtClean="0"/>
              <a:t>Creer une plateforme </a:t>
            </a:r>
            <a:r>
              <a:rPr lang="fr-FR" dirty="0"/>
              <a:t>de mise </a:t>
            </a:r>
            <a:r>
              <a:rPr lang="fr-FR" dirty="0" smtClean="0"/>
              <a:t>en relation </a:t>
            </a:r>
            <a:r>
              <a:rPr lang="fr-FR" dirty="0"/>
              <a:t>entre freelances tech et </a:t>
            </a:r>
            <a:r>
              <a:rPr lang="fr-FR" dirty="0" smtClean="0"/>
              <a:t>entreprises.</a:t>
            </a:r>
          </a:p>
          <a:p>
            <a:r>
              <a:rPr lang="fr-FR" dirty="0"/>
              <a:t>Public cible </a:t>
            </a:r>
            <a:r>
              <a:rPr lang="fr-FR" dirty="0" smtClean="0"/>
              <a:t>:</a:t>
            </a:r>
          </a:p>
          <a:p>
            <a:pPr lvl="1">
              <a:buFont typeface="Courier New" panose="02070309020205020404" pitchFamily="49" charset="0"/>
              <a:buChar char="o"/>
            </a:pPr>
            <a:r>
              <a:rPr lang="fr-FR" dirty="0"/>
              <a:t>Freelances </a:t>
            </a:r>
            <a:r>
              <a:rPr lang="fr-FR" dirty="0" smtClean="0"/>
              <a:t>africains</a:t>
            </a:r>
          </a:p>
          <a:p>
            <a:pPr lvl="1">
              <a:buFont typeface="Courier New" panose="02070309020205020404" pitchFamily="49" charset="0"/>
              <a:buChar char="o"/>
            </a:pPr>
            <a:r>
              <a:rPr lang="fr-FR" dirty="0" smtClean="0"/>
              <a:t>Startups</a:t>
            </a:r>
          </a:p>
          <a:p>
            <a:pPr lvl="1">
              <a:buFont typeface="Courier New" panose="02070309020205020404" pitchFamily="49" charset="0"/>
              <a:buChar char="o"/>
            </a:pPr>
            <a:r>
              <a:rPr lang="fr-FR" dirty="0"/>
              <a:t>Entreprises recherchant des compétences numériques</a:t>
            </a:r>
            <a:endParaRPr lang="fr-FR" dirty="0" smtClean="0"/>
          </a:p>
        </p:txBody>
      </p:sp>
    </p:spTree>
    <p:extLst>
      <p:ext uri="{BB962C8B-B14F-4D97-AF65-F5344CB8AC3E}">
        <p14:creationId xmlns:p14="http://schemas.microsoft.com/office/powerpoint/2010/main" val="401950709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CHOIX DE DESIGN</a:t>
            </a:r>
          </a:p>
        </p:txBody>
      </p:sp>
      <p:sp>
        <p:nvSpPr>
          <p:cNvPr id="3" name="Espace réservé du contenu 2"/>
          <p:cNvSpPr>
            <a:spLocks noGrp="1"/>
          </p:cNvSpPr>
          <p:nvPr>
            <p:ph idx="1"/>
          </p:nvPr>
        </p:nvSpPr>
        <p:spPr/>
        <p:txBody>
          <a:bodyPr/>
          <a:lstStyle/>
          <a:p>
            <a:r>
              <a:rPr lang="fr-FR" dirty="0"/>
              <a:t>Palette de couleurs </a:t>
            </a:r>
            <a:r>
              <a:rPr lang="fr-FR" dirty="0" smtClean="0"/>
              <a:t>:</a:t>
            </a:r>
          </a:p>
          <a:p>
            <a:pPr lvl="1">
              <a:buFont typeface="Courier New" panose="02070309020205020404" pitchFamily="49" charset="0"/>
              <a:buChar char="o"/>
            </a:pPr>
            <a:r>
              <a:rPr lang="fr-FR" dirty="0"/>
              <a:t>Couleur </a:t>
            </a:r>
            <a:r>
              <a:rPr lang="fr-FR" dirty="0" smtClean="0"/>
              <a:t>principale : 		#</a:t>
            </a:r>
            <a:r>
              <a:rPr lang="fr-FR" dirty="0"/>
              <a:t>198754</a:t>
            </a:r>
          </a:p>
          <a:p>
            <a:pPr lvl="1">
              <a:buFont typeface="Courier New" panose="02070309020205020404" pitchFamily="49" charset="0"/>
              <a:buChar char="o"/>
            </a:pPr>
            <a:r>
              <a:rPr lang="fr-FR" dirty="0"/>
              <a:t>Couleur </a:t>
            </a:r>
            <a:r>
              <a:rPr lang="fr-FR" dirty="0" smtClean="0"/>
              <a:t>secondaire : 		#EAF8F3</a:t>
            </a:r>
            <a:endParaRPr lang="fr-FR" dirty="0"/>
          </a:p>
          <a:p>
            <a:pPr lvl="1">
              <a:buFont typeface="Courier New" panose="02070309020205020404" pitchFamily="49" charset="0"/>
              <a:buChar char="o"/>
            </a:pPr>
            <a:r>
              <a:rPr lang="fr-FR" dirty="0"/>
              <a:t>Couleur de </a:t>
            </a:r>
            <a:r>
              <a:rPr lang="fr-FR" dirty="0" smtClean="0"/>
              <a:t>fond : 		#</a:t>
            </a:r>
            <a:r>
              <a:rPr lang="fr-FR" dirty="0"/>
              <a:t>FFFFFF</a:t>
            </a:r>
          </a:p>
          <a:p>
            <a:pPr lvl="1">
              <a:buFont typeface="Courier New" panose="02070309020205020404" pitchFamily="49" charset="0"/>
              <a:buChar char="o"/>
            </a:pPr>
            <a:r>
              <a:rPr lang="fr-FR" dirty="0"/>
              <a:t>Couleur </a:t>
            </a:r>
            <a:r>
              <a:rPr lang="fr-FR" dirty="0" smtClean="0"/>
              <a:t>paragraphe : 		#</a:t>
            </a:r>
            <a:r>
              <a:rPr lang="fr-FR" dirty="0"/>
              <a:t>555555</a:t>
            </a:r>
          </a:p>
          <a:p>
            <a:pPr lvl="1">
              <a:buFont typeface="Courier New" panose="02070309020205020404" pitchFamily="49" charset="0"/>
              <a:buChar char="o"/>
            </a:pPr>
            <a:r>
              <a:rPr lang="fr-FR" dirty="0"/>
              <a:t>Couleur </a:t>
            </a:r>
            <a:r>
              <a:rPr lang="fr-FR" dirty="0" smtClean="0"/>
              <a:t>titre : 			#000000</a:t>
            </a:r>
          </a:p>
          <a:p>
            <a:pPr marL="457200" lvl="1" indent="0">
              <a:buNone/>
            </a:pPr>
            <a:endParaRPr lang="en-US" dirty="0"/>
          </a:p>
          <a:p>
            <a:pPr marL="457200" lvl="1" indent="0">
              <a:buNone/>
            </a:pPr>
            <a:r>
              <a:rPr lang="fr-FR" dirty="0" smtClean="0"/>
              <a:t>Le vert principal (#198754) a été choisi pour inspirer la confiance, la croissance et l'innovation.</a:t>
            </a:r>
          </a:p>
          <a:p>
            <a:pPr marL="457200" lvl="1" indent="0">
              <a:buNone/>
            </a:pPr>
            <a:endParaRPr lang="en-US" dirty="0"/>
          </a:p>
        </p:txBody>
      </p:sp>
      <p:sp>
        <p:nvSpPr>
          <p:cNvPr id="5" name="Rectangle 4"/>
          <p:cNvSpPr/>
          <p:nvPr/>
        </p:nvSpPr>
        <p:spPr>
          <a:xfrm flipV="1">
            <a:off x="3669175" y="2635150"/>
            <a:ext cx="243068" cy="1890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flipV="1">
            <a:off x="3669175" y="3029956"/>
            <a:ext cx="243068" cy="189072"/>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flipV="1">
            <a:off x="3669175" y="3377158"/>
            <a:ext cx="243068" cy="189072"/>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flipV="1">
            <a:off x="3669175" y="3778180"/>
            <a:ext cx="243068" cy="189072"/>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flipV="1">
            <a:off x="3669175" y="4132835"/>
            <a:ext cx="243068" cy="18907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329046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TYPOGRAPHIE ET INSPIRATIONS</a:t>
            </a:r>
          </a:p>
        </p:txBody>
      </p:sp>
      <p:sp>
        <p:nvSpPr>
          <p:cNvPr id="3" name="Espace réservé du contenu 2"/>
          <p:cNvSpPr>
            <a:spLocks noGrp="1"/>
          </p:cNvSpPr>
          <p:nvPr>
            <p:ph idx="1"/>
          </p:nvPr>
        </p:nvSpPr>
        <p:spPr/>
        <p:txBody>
          <a:bodyPr>
            <a:normAutofit/>
          </a:bodyPr>
          <a:lstStyle/>
          <a:p>
            <a:r>
              <a:rPr lang="fr-FR" dirty="0"/>
              <a:t>Polices utilisées </a:t>
            </a:r>
            <a:r>
              <a:rPr lang="fr-FR" dirty="0" smtClean="0"/>
              <a:t>:</a:t>
            </a:r>
          </a:p>
          <a:p>
            <a:pPr lvl="1">
              <a:buFont typeface="Courier New" panose="02070309020205020404" pitchFamily="49" charset="0"/>
              <a:buChar char="o"/>
            </a:pPr>
            <a:r>
              <a:rPr lang="fr-FR" dirty="0"/>
              <a:t>Titres : </a:t>
            </a:r>
            <a:r>
              <a:rPr lang="fr-FR" dirty="0" smtClean="0"/>
              <a:t>poppins</a:t>
            </a:r>
          </a:p>
          <a:p>
            <a:pPr marL="457200" lvl="1" indent="0">
              <a:buNone/>
            </a:pPr>
            <a:r>
              <a:rPr lang="fr-FR" dirty="0"/>
              <a:t>choisie pour son style moderne, sa clarté et sa capacité à mettre en valeur les informations importantes.</a:t>
            </a:r>
          </a:p>
          <a:p>
            <a:pPr lvl="1">
              <a:buFont typeface="Courier New" panose="02070309020205020404" pitchFamily="49" charset="0"/>
              <a:buChar char="o"/>
            </a:pPr>
            <a:r>
              <a:rPr lang="fr-FR" dirty="0"/>
              <a:t>Paragraphe : </a:t>
            </a:r>
            <a:r>
              <a:rPr lang="fr-FR" dirty="0" smtClean="0"/>
              <a:t>roboto</a:t>
            </a:r>
          </a:p>
          <a:p>
            <a:pPr marL="457200" lvl="1" indent="0">
              <a:buNone/>
            </a:pPr>
            <a:r>
              <a:rPr lang="fr-FR" dirty="0"/>
              <a:t>choisie pour sa lisibilité, son aspect </a:t>
            </a:r>
            <a:r>
              <a:rPr lang="fr-FR" dirty="0" smtClean="0"/>
              <a:t>professionnel.</a:t>
            </a:r>
            <a:endParaRPr lang="en-US" dirty="0" smtClean="0"/>
          </a:p>
          <a:p>
            <a:pPr marL="457200" lvl="1" indent="0">
              <a:buNone/>
            </a:pPr>
            <a:endParaRPr lang="fr-FR" dirty="0" smtClean="0"/>
          </a:p>
          <a:p>
            <a:r>
              <a:rPr lang="fr-FR" dirty="0" smtClean="0"/>
              <a:t>Inspirations :</a:t>
            </a:r>
          </a:p>
          <a:p>
            <a:pPr lvl="1">
              <a:buFont typeface="Courier New" panose="02070309020205020404" pitchFamily="49" charset="0"/>
              <a:buChar char="o"/>
            </a:pPr>
            <a:r>
              <a:rPr lang="en-US" dirty="0" smtClean="0"/>
              <a:t>Farata.net</a:t>
            </a:r>
          </a:p>
          <a:p>
            <a:pPr lvl="1">
              <a:buFont typeface="Courier New" panose="02070309020205020404" pitchFamily="49" charset="0"/>
              <a:buChar char="o"/>
            </a:pPr>
            <a:r>
              <a:rPr lang="en-US" dirty="0" smtClean="0"/>
              <a:t>Empire du web</a:t>
            </a:r>
            <a:endParaRPr lang="fr-FR" dirty="0"/>
          </a:p>
        </p:txBody>
      </p:sp>
    </p:spTree>
    <p:extLst>
      <p:ext uri="{BB962C8B-B14F-4D97-AF65-F5344CB8AC3E}">
        <p14:creationId xmlns:p14="http://schemas.microsoft.com/office/powerpoint/2010/main" val="10317712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ARCHITECTURE DU SITE</a:t>
            </a:r>
          </a:p>
        </p:txBody>
      </p:sp>
      <p:sp>
        <p:nvSpPr>
          <p:cNvPr id="3" name="Espace réservé du contenu 2"/>
          <p:cNvSpPr>
            <a:spLocks noGrp="1"/>
          </p:cNvSpPr>
          <p:nvPr>
            <p:ph sz="half" idx="1"/>
          </p:nvPr>
        </p:nvSpPr>
        <p:spPr/>
        <p:txBody>
          <a:bodyPr>
            <a:normAutofit/>
          </a:bodyPr>
          <a:lstStyle/>
          <a:p>
            <a:r>
              <a:rPr lang="fr-FR" dirty="0"/>
              <a:t>Pages </a:t>
            </a:r>
            <a:r>
              <a:rPr lang="fr-FR" dirty="0" smtClean="0"/>
              <a:t>principales :</a:t>
            </a:r>
          </a:p>
          <a:p>
            <a:pPr lvl="1">
              <a:buFont typeface="Courier New" panose="02070309020205020404" pitchFamily="49" charset="0"/>
              <a:buChar char="o"/>
            </a:pPr>
            <a:r>
              <a:rPr lang="fr-FR" dirty="0"/>
              <a:t>Accueil (index.html</a:t>
            </a:r>
            <a:r>
              <a:rPr lang="fr-FR" dirty="0" smtClean="0"/>
              <a:t>)</a:t>
            </a:r>
          </a:p>
          <a:p>
            <a:pPr lvl="1">
              <a:buFont typeface="Courier New" panose="02070309020205020404" pitchFamily="49" charset="0"/>
              <a:buChar char="o"/>
            </a:pPr>
            <a:r>
              <a:rPr lang="fr-FR" dirty="0"/>
              <a:t>Freelances (freelances.html</a:t>
            </a:r>
            <a:r>
              <a:rPr lang="fr-FR" dirty="0" smtClean="0"/>
              <a:t>)</a:t>
            </a:r>
          </a:p>
          <a:p>
            <a:pPr lvl="1">
              <a:buFont typeface="Courier New" panose="02070309020205020404" pitchFamily="49" charset="0"/>
              <a:buChar char="o"/>
            </a:pPr>
            <a:r>
              <a:rPr lang="en-US" dirty="0" smtClean="0"/>
              <a:t>Tarif (tariff.html)</a:t>
            </a:r>
            <a:endParaRPr lang="fr-FR" dirty="0" smtClean="0"/>
          </a:p>
          <a:p>
            <a:pPr lvl="1">
              <a:buFont typeface="Courier New" panose="02070309020205020404" pitchFamily="49" charset="0"/>
              <a:buChar char="o"/>
            </a:pPr>
            <a:r>
              <a:rPr lang="fr-FR" dirty="0"/>
              <a:t>À propos (about.html</a:t>
            </a:r>
            <a:r>
              <a:rPr lang="fr-FR" dirty="0" smtClean="0"/>
              <a:t>)</a:t>
            </a:r>
          </a:p>
          <a:p>
            <a:pPr lvl="1">
              <a:buFont typeface="Courier New" panose="02070309020205020404" pitchFamily="49" charset="0"/>
              <a:buChar char="o"/>
            </a:pPr>
            <a:r>
              <a:rPr lang="fr-FR" dirty="0"/>
              <a:t>Contact (contact.html)</a:t>
            </a:r>
            <a:endParaRPr lang="fr-FR" dirty="0" smtClean="0"/>
          </a:p>
          <a:p>
            <a:pPr lvl="1">
              <a:buFont typeface="Courier New" panose="02070309020205020404" pitchFamily="49" charset="0"/>
              <a:buChar char="o"/>
            </a:pPr>
            <a:endParaRPr lang="fr-FR" dirty="0" smtClean="0"/>
          </a:p>
        </p:txBody>
      </p:sp>
      <p:sp>
        <p:nvSpPr>
          <p:cNvPr id="6" name="Espace réservé du contenu 5"/>
          <p:cNvSpPr>
            <a:spLocks noGrp="1"/>
          </p:cNvSpPr>
          <p:nvPr>
            <p:ph sz="half" idx="2"/>
          </p:nvPr>
        </p:nvSpPr>
        <p:spPr>
          <a:xfrm>
            <a:off x="5089970" y="2160589"/>
            <a:ext cx="4184034" cy="4159188"/>
          </a:xfrm>
        </p:spPr>
        <p:txBody>
          <a:bodyPr/>
          <a:lstStyle/>
          <a:p>
            <a:r>
              <a:rPr lang="fr-FR" dirty="0"/>
              <a:t>ARBORESCENCE DU </a:t>
            </a:r>
            <a:r>
              <a:rPr lang="fr-FR" dirty="0" smtClean="0"/>
              <a:t>PROJET :</a:t>
            </a:r>
          </a:p>
          <a:p>
            <a:pPr marL="0" indent="0">
              <a:buNone/>
            </a:pPr>
            <a:endParaRPr lang="fr-FR" dirty="0"/>
          </a:p>
        </p:txBody>
      </p:sp>
      <p:pic>
        <p:nvPicPr>
          <p:cNvPr id="7" name="Imag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27681" y="2602214"/>
            <a:ext cx="2834886" cy="3566469"/>
          </a:xfrm>
          <a:prstGeom prst="rect">
            <a:avLst/>
          </a:prstGeom>
        </p:spPr>
      </p:pic>
    </p:spTree>
    <p:extLst>
      <p:ext uri="{BB962C8B-B14F-4D97-AF65-F5344CB8AC3E}">
        <p14:creationId xmlns:p14="http://schemas.microsoft.com/office/powerpoint/2010/main" val="14747145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6778" y="3766557"/>
            <a:ext cx="4322648" cy="2296407"/>
          </a:xfrm>
          <a:prstGeom prst="rect">
            <a:avLst/>
          </a:prstGeom>
        </p:spPr>
      </p:pic>
      <p:pic>
        <p:nvPicPr>
          <p:cNvPr id="9" name="Imag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6056" y="981275"/>
            <a:ext cx="4322650" cy="2296408"/>
          </a:xfrm>
          <a:prstGeom prst="rect">
            <a:avLst/>
          </a:prstGeom>
        </p:spPr>
      </p:pic>
      <p:pic>
        <p:nvPicPr>
          <p:cNvPr id="10" name="Image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12779" y="981275"/>
            <a:ext cx="4322650" cy="2296408"/>
          </a:xfrm>
          <a:prstGeom prst="rect">
            <a:avLst/>
          </a:prstGeom>
        </p:spPr>
      </p:pic>
      <p:pic>
        <p:nvPicPr>
          <p:cNvPr id="11" name="Image 1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12779" y="3726491"/>
            <a:ext cx="4322650" cy="2296408"/>
          </a:xfrm>
          <a:prstGeom prst="rect">
            <a:avLst/>
          </a:prstGeom>
        </p:spPr>
      </p:pic>
      <p:sp>
        <p:nvSpPr>
          <p:cNvPr id="2" name="Titre 1"/>
          <p:cNvSpPr>
            <a:spLocks noGrp="1"/>
          </p:cNvSpPr>
          <p:nvPr>
            <p:ph type="title"/>
          </p:nvPr>
        </p:nvSpPr>
        <p:spPr>
          <a:xfrm>
            <a:off x="2968102" y="127322"/>
            <a:ext cx="8596668" cy="853954"/>
          </a:xfrm>
        </p:spPr>
        <p:txBody>
          <a:bodyPr/>
          <a:lstStyle/>
          <a:p>
            <a:r>
              <a:rPr lang="en-US" dirty="0" smtClean="0"/>
              <a:t>Capture d’ecran</a:t>
            </a:r>
            <a:endParaRPr lang="fr-FR" dirty="0"/>
          </a:p>
        </p:txBody>
      </p:sp>
    </p:spTree>
    <p:extLst>
      <p:ext uri="{BB962C8B-B14F-4D97-AF65-F5344CB8AC3E}">
        <p14:creationId xmlns:p14="http://schemas.microsoft.com/office/powerpoint/2010/main" val="224495441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Points techniques</a:t>
            </a:r>
          </a:p>
        </p:txBody>
      </p:sp>
      <p:sp>
        <p:nvSpPr>
          <p:cNvPr id="3" name="Espace réservé du contenu 2"/>
          <p:cNvSpPr>
            <a:spLocks noGrp="1"/>
          </p:cNvSpPr>
          <p:nvPr>
            <p:ph idx="1"/>
          </p:nvPr>
        </p:nvSpPr>
        <p:spPr>
          <a:xfrm>
            <a:off x="677334" y="1817225"/>
            <a:ext cx="8837056" cy="4224137"/>
          </a:xfrm>
        </p:spPr>
        <p:txBody>
          <a:bodyPr>
            <a:normAutofit/>
          </a:bodyPr>
          <a:lstStyle/>
          <a:p>
            <a:r>
              <a:rPr lang="fr-FR" dirty="0" smtClean="0"/>
              <a:t>JS</a:t>
            </a:r>
          </a:p>
          <a:p>
            <a:pPr lvl="1">
              <a:buFont typeface="Courier New" panose="02070309020205020404" pitchFamily="49" charset="0"/>
              <a:buChar char="o"/>
            </a:pPr>
            <a:r>
              <a:rPr lang="en-US" dirty="0" smtClean="0"/>
              <a:t>Code :</a:t>
            </a:r>
          </a:p>
          <a:p>
            <a:pPr marL="457200" lvl="1" indent="0">
              <a:buNone/>
            </a:pPr>
            <a:r>
              <a:rPr lang="fr-FR" dirty="0"/>
              <a:t>document.body.classList.toggle("dark-mode")</a:t>
            </a:r>
          </a:p>
          <a:p>
            <a:pPr marL="457200" lvl="1" indent="0">
              <a:buNone/>
            </a:pPr>
            <a:r>
              <a:rPr lang="fr-FR" dirty="0"/>
              <a:t>localStorage.setItem("theme", "dark")</a:t>
            </a:r>
          </a:p>
          <a:p>
            <a:pPr lvl="1">
              <a:buFont typeface="Courier New" panose="02070309020205020404" pitchFamily="49" charset="0"/>
              <a:buChar char="o"/>
            </a:pPr>
            <a:r>
              <a:rPr lang="en-US" dirty="0" smtClean="0"/>
              <a:t>Logique :</a:t>
            </a:r>
          </a:p>
          <a:p>
            <a:pPr marL="457200" lvl="1" indent="0">
              <a:buNone/>
            </a:pPr>
            <a:r>
              <a:rPr lang="fr-FR" sz="1400" dirty="0"/>
              <a:t>Le bouton ajoute ou retire la </a:t>
            </a:r>
            <a:r>
              <a:rPr lang="fr-FR" sz="1400" dirty="0" smtClean="0"/>
              <a:t>classe dark</a:t>
            </a:r>
            <a:r>
              <a:rPr lang="fr-FR" sz="1400" dirty="0"/>
              <a:t>-mode. Le thème choisi est ensuite sauvegardé </a:t>
            </a:r>
            <a:r>
              <a:rPr lang="fr-FR" sz="1400" dirty="0" smtClean="0"/>
              <a:t>dans localStorage</a:t>
            </a:r>
            <a:r>
              <a:rPr lang="fr-FR" sz="1400" dirty="0"/>
              <a:t> afin qu'il soit conservé même après le rechargement de la page</a:t>
            </a:r>
            <a:r>
              <a:rPr lang="fr-FR" sz="1400" dirty="0" smtClean="0"/>
              <a:t>.</a:t>
            </a:r>
            <a:endParaRPr lang="fr-FR" sz="1400" dirty="0"/>
          </a:p>
          <a:p>
            <a:pPr lvl="1">
              <a:buFont typeface="Wingdings" panose="05000000000000000000" pitchFamily="2" charset="2"/>
              <a:buChar char="v"/>
            </a:pPr>
            <a:r>
              <a:rPr lang="en-US" dirty="0" smtClean="0"/>
              <a:t>Codes :</a:t>
            </a:r>
          </a:p>
          <a:p>
            <a:pPr marL="457200" lvl="1" indent="0">
              <a:buNone/>
            </a:pPr>
            <a:r>
              <a:rPr lang="fr-FR" dirty="0"/>
              <a:t>observeur.observe(statistiques);</a:t>
            </a:r>
          </a:p>
          <a:p>
            <a:pPr lvl="1">
              <a:buFont typeface="Wingdings" panose="05000000000000000000" pitchFamily="2" charset="2"/>
              <a:buChar char="v"/>
            </a:pPr>
            <a:r>
              <a:rPr lang="en-US" dirty="0" smtClean="0"/>
              <a:t>Logique :</a:t>
            </a:r>
          </a:p>
          <a:p>
            <a:pPr marL="457200" lvl="1" indent="0">
              <a:buNone/>
            </a:pPr>
            <a:r>
              <a:rPr lang="fr-FR" sz="1400" dirty="0"/>
              <a:t>Déclenche les animations lorsque l'élément entre dans la zone visible de l'écran.</a:t>
            </a:r>
          </a:p>
        </p:txBody>
      </p:sp>
    </p:spTree>
    <p:extLst>
      <p:ext uri="{BB962C8B-B14F-4D97-AF65-F5344CB8AC3E}">
        <p14:creationId xmlns:p14="http://schemas.microsoft.com/office/powerpoint/2010/main" val="288968480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Points techniques</a:t>
            </a:r>
          </a:p>
        </p:txBody>
      </p:sp>
      <p:sp>
        <p:nvSpPr>
          <p:cNvPr id="3" name="Espace réservé du contenu 2"/>
          <p:cNvSpPr>
            <a:spLocks noGrp="1"/>
          </p:cNvSpPr>
          <p:nvPr>
            <p:ph idx="1"/>
          </p:nvPr>
        </p:nvSpPr>
        <p:spPr/>
        <p:txBody>
          <a:bodyPr>
            <a:normAutofit fontScale="92500" lnSpcReduction="10000"/>
          </a:bodyPr>
          <a:lstStyle/>
          <a:p>
            <a:r>
              <a:rPr lang="fr-FR" dirty="0" smtClean="0"/>
              <a:t>Bootstrap :</a:t>
            </a:r>
          </a:p>
          <a:p>
            <a:pPr lvl="1">
              <a:buFont typeface="Wingdings" panose="05000000000000000000" pitchFamily="2" charset="2"/>
              <a:buChar char="v"/>
            </a:pPr>
            <a:r>
              <a:rPr lang="fr-FR" dirty="0"/>
              <a:t>Navbar responsive</a:t>
            </a:r>
          </a:p>
          <a:p>
            <a:pPr lvl="1">
              <a:buFont typeface="Wingdings" panose="05000000000000000000" pitchFamily="2" charset="2"/>
              <a:buChar char="v"/>
            </a:pPr>
            <a:r>
              <a:rPr lang="fr-FR" dirty="0"/>
              <a:t>Grid System</a:t>
            </a:r>
          </a:p>
          <a:p>
            <a:pPr lvl="1">
              <a:buFont typeface="Wingdings" panose="05000000000000000000" pitchFamily="2" charset="2"/>
              <a:buChar char="v"/>
            </a:pPr>
            <a:r>
              <a:rPr lang="fr-FR" dirty="0" smtClean="0"/>
              <a:t>Cards</a:t>
            </a:r>
          </a:p>
          <a:p>
            <a:pPr lvl="1">
              <a:buFont typeface="Wingdings" panose="05000000000000000000" pitchFamily="2" charset="2"/>
              <a:buChar char="v"/>
            </a:pPr>
            <a:r>
              <a:rPr lang="fr-FR" dirty="0" smtClean="0"/>
              <a:t>Carousel</a:t>
            </a:r>
          </a:p>
          <a:p>
            <a:pPr lvl="1">
              <a:buFont typeface="Wingdings" panose="05000000000000000000" pitchFamily="2" charset="2"/>
              <a:buChar char="v"/>
            </a:pPr>
            <a:r>
              <a:rPr lang="fr-FR" dirty="0" smtClean="0"/>
              <a:t>accordion</a:t>
            </a:r>
          </a:p>
          <a:p>
            <a:pPr marL="457200" lvl="1" indent="0">
              <a:buNone/>
            </a:pPr>
            <a:endParaRPr lang="en-US" dirty="0" smtClean="0"/>
          </a:p>
          <a:p>
            <a:r>
              <a:rPr lang="en-US" dirty="0" smtClean="0"/>
              <a:t>CSS :</a:t>
            </a:r>
          </a:p>
          <a:p>
            <a:pPr lvl="1">
              <a:buFont typeface="Courier New" panose="02070309020205020404" pitchFamily="49" charset="0"/>
              <a:buChar char="o"/>
            </a:pPr>
            <a:r>
              <a:rPr lang="en-US" dirty="0" smtClean="0"/>
              <a:t>Variable CSS</a:t>
            </a:r>
          </a:p>
          <a:p>
            <a:pPr lvl="1">
              <a:buFont typeface="Courier New" panose="02070309020205020404" pitchFamily="49" charset="0"/>
              <a:buChar char="o"/>
            </a:pPr>
            <a:r>
              <a:rPr lang="fr-FR" dirty="0"/>
              <a:t>Media </a:t>
            </a:r>
            <a:r>
              <a:rPr lang="fr-FR" dirty="0" smtClean="0"/>
              <a:t>Queries</a:t>
            </a:r>
          </a:p>
          <a:p>
            <a:pPr lvl="1">
              <a:buFont typeface="Courier New" panose="02070309020205020404" pitchFamily="49" charset="0"/>
              <a:buChar char="o"/>
            </a:pPr>
            <a:r>
              <a:rPr lang="fr-FR" dirty="0"/>
              <a:t>Animations fade-in</a:t>
            </a:r>
            <a:endParaRPr lang="en-US" dirty="0"/>
          </a:p>
          <a:p>
            <a:endParaRPr lang="en-US" dirty="0" smtClean="0"/>
          </a:p>
          <a:p>
            <a:endParaRPr lang="fr-FR" dirty="0" smtClean="0"/>
          </a:p>
          <a:p>
            <a:pPr marL="457200" lvl="1" indent="0">
              <a:buNone/>
            </a:pPr>
            <a:endParaRPr lang="fr-FR" dirty="0"/>
          </a:p>
        </p:txBody>
      </p:sp>
    </p:spTree>
    <p:extLst>
      <p:ext uri="{BB962C8B-B14F-4D97-AF65-F5344CB8AC3E}">
        <p14:creationId xmlns:p14="http://schemas.microsoft.com/office/powerpoint/2010/main" val="19927494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GitHub </a:t>
            </a:r>
            <a:endParaRPr lang="fr-FR" dirty="0"/>
          </a:p>
        </p:txBody>
      </p:sp>
      <p:sp>
        <p:nvSpPr>
          <p:cNvPr id="3" name="Espace réservé du contenu 2"/>
          <p:cNvSpPr>
            <a:spLocks noGrp="1"/>
          </p:cNvSpPr>
          <p:nvPr>
            <p:ph idx="1"/>
          </p:nvPr>
        </p:nvSpPr>
        <p:spPr>
          <a:xfrm>
            <a:off x="677334" y="1643605"/>
            <a:ext cx="8596668" cy="4606101"/>
          </a:xfrm>
        </p:spPr>
        <p:txBody>
          <a:bodyPr>
            <a:normAutofit/>
          </a:bodyPr>
          <a:lstStyle/>
          <a:p>
            <a:r>
              <a:rPr lang="fr-FR" dirty="0"/>
              <a:t>historique des </a:t>
            </a:r>
            <a:r>
              <a:rPr lang="fr-FR" dirty="0" smtClean="0"/>
              <a:t>commits</a:t>
            </a:r>
          </a:p>
          <a:p>
            <a:pPr marL="0" indent="0">
              <a:buNone/>
            </a:pPr>
            <a:r>
              <a:rPr lang="fr-FR" dirty="0" smtClean="0"/>
              <a:t>	</a:t>
            </a:r>
            <a:r>
              <a:rPr lang="fr-FR" sz="1200" b="1" dirty="0" smtClean="0"/>
              <a:t>COMMIT 1 : </a:t>
            </a:r>
            <a:r>
              <a:rPr lang="fr-FR" sz="1200" dirty="0"/>
              <a:t>Init : création du dépôt, arborescence des fichiers et structure HTML de </a:t>
            </a:r>
            <a:r>
              <a:rPr lang="fr-FR" sz="1200" dirty="0" smtClean="0"/>
              <a:t>base </a:t>
            </a:r>
          </a:p>
          <a:p>
            <a:pPr marL="0" indent="0">
              <a:buNone/>
            </a:pPr>
            <a:r>
              <a:rPr lang="en-US" sz="1200" dirty="0"/>
              <a:t>	</a:t>
            </a:r>
            <a:r>
              <a:rPr lang="fr-FR" sz="1200" b="1" dirty="0"/>
              <a:t>COMMIT </a:t>
            </a:r>
            <a:r>
              <a:rPr lang="fr-FR" sz="1200" b="1" dirty="0" smtClean="0"/>
              <a:t>2 : </a:t>
            </a:r>
            <a:r>
              <a:rPr lang="fr-FR" sz="1200" dirty="0"/>
              <a:t>HTML : structure complète des 5 pages avec sections et contenu </a:t>
            </a:r>
            <a:r>
              <a:rPr lang="fr-FR" sz="1200" dirty="0" smtClean="0"/>
              <a:t>texte</a:t>
            </a:r>
          </a:p>
          <a:p>
            <a:pPr marL="0" indent="0">
              <a:buNone/>
            </a:pPr>
            <a:r>
              <a:rPr lang="en-US" sz="1200" dirty="0"/>
              <a:t>	</a:t>
            </a:r>
            <a:r>
              <a:rPr lang="fr-FR" sz="1200" b="1" dirty="0"/>
              <a:t>COMMIT </a:t>
            </a:r>
            <a:r>
              <a:rPr lang="fr-FR" sz="1200" b="1" dirty="0" smtClean="0"/>
              <a:t>3 :</a:t>
            </a:r>
            <a:r>
              <a:rPr lang="fr-FR" sz="1200" dirty="0" smtClean="0"/>
              <a:t> </a:t>
            </a:r>
            <a:r>
              <a:rPr lang="fr-FR" sz="1200" dirty="0"/>
              <a:t>CSS : variables, typographie, layout général et styles de </a:t>
            </a:r>
            <a:r>
              <a:rPr lang="fr-FR" sz="1200" dirty="0" smtClean="0"/>
              <a:t>base</a:t>
            </a:r>
          </a:p>
          <a:p>
            <a:pPr marL="0" indent="0">
              <a:buNone/>
            </a:pPr>
            <a:r>
              <a:rPr lang="en-US" sz="1200" dirty="0"/>
              <a:t>	</a:t>
            </a:r>
            <a:r>
              <a:rPr lang="fr-FR" sz="1200" b="1" dirty="0" smtClean="0"/>
              <a:t>COMMIT 4 : </a:t>
            </a:r>
            <a:r>
              <a:rPr lang="fr-FR" sz="1200" dirty="0"/>
              <a:t>CSS : Bento Grid, sections hero et catégories, effets </a:t>
            </a:r>
            <a:r>
              <a:rPr lang="fr-FR" sz="1200" dirty="0" smtClean="0"/>
              <a:t>hover</a:t>
            </a:r>
          </a:p>
          <a:p>
            <a:pPr marL="0" indent="0">
              <a:buNone/>
            </a:pPr>
            <a:r>
              <a:rPr lang="en-US" sz="1200" dirty="0"/>
              <a:t>	</a:t>
            </a:r>
            <a:r>
              <a:rPr lang="fr-FR" sz="1200" b="1" dirty="0" smtClean="0"/>
              <a:t>COMMIT 5 </a:t>
            </a:r>
            <a:r>
              <a:rPr lang="fr-FR" sz="1200" b="1" dirty="0"/>
              <a:t>: </a:t>
            </a:r>
            <a:r>
              <a:rPr lang="fr-FR" sz="1200" dirty="0"/>
              <a:t>CSS : responsive design mobile et tablette, media </a:t>
            </a:r>
            <a:r>
              <a:rPr lang="fr-FR" sz="1200" dirty="0" smtClean="0"/>
              <a:t>queries</a:t>
            </a:r>
          </a:p>
          <a:p>
            <a:pPr marL="0" indent="0">
              <a:buNone/>
            </a:pPr>
            <a:r>
              <a:rPr lang="en-US" sz="1200" dirty="0"/>
              <a:t>	</a:t>
            </a:r>
            <a:r>
              <a:rPr lang="fr-FR" sz="1200" b="1" dirty="0" smtClean="0"/>
              <a:t>COMMIT 6 : </a:t>
            </a:r>
            <a:r>
              <a:rPr lang="fr-FR" sz="1200" dirty="0"/>
              <a:t>JS : dark mode avec localStorage, navbar dynamique au </a:t>
            </a:r>
            <a:r>
              <a:rPr lang="fr-FR" sz="1200" dirty="0" smtClean="0"/>
              <a:t>scroll</a:t>
            </a:r>
          </a:p>
          <a:p>
            <a:pPr marL="0" indent="0">
              <a:buNone/>
            </a:pPr>
            <a:r>
              <a:rPr lang="en-US" sz="1200" dirty="0"/>
              <a:t>	</a:t>
            </a:r>
            <a:r>
              <a:rPr lang="fr-FR" sz="1200" b="1" dirty="0" smtClean="0"/>
              <a:t>COMMIT 7 : </a:t>
            </a:r>
            <a:r>
              <a:rPr lang="fr-FR" sz="1200" dirty="0"/>
              <a:t>JS : compteurs animés au scroll et animations fade-in des sections</a:t>
            </a:r>
            <a:r>
              <a:rPr lang="fr-FR" sz="1200" dirty="0" smtClean="0"/>
              <a:t> </a:t>
            </a:r>
          </a:p>
          <a:p>
            <a:pPr marL="0" indent="0">
              <a:buNone/>
            </a:pPr>
            <a:r>
              <a:rPr lang="en-US" sz="1200" dirty="0"/>
              <a:t>	</a:t>
            </a:r>
            <a:r>
              <a:rPr lang="fr-FR" sz="1200" b="1" dirty="0" smtClean="0"/>
              <a:t>COMMIT 8 </a:t>
            </a:r>
            <a:r>
              <a:rPr lang="fr-FR" sz="1200" b="1" dirty="0"/>
              <a:t>: </a:t>
            </a:r>
            <a:r>
              <a:rPr lang="fr-FR" sz="1200" dirty="0"/>
              <a:t>JS : filtrage dynamique des freelances et validation du formulaire de </a:t>
            </a:r>
            <a:r>
              <a:rPr lang="fr-FR" sz="1200" dirty="0" smtClean="0"/>
              <a:t>contact</a:t>
            </a:r>
          </a:p>
          <a:p>
            <a:pPr marL="0" indent="0">
              <a:buNone/>
            </a:pPr>
            <a:r>
              <a:rPr lang="fr-FR" sz="1200" dirty="0"/>
              <a:t>	</a:t>
            </a:r>
            <a:r>
              <a:rPr lang="fr-FR" sz="1200" b="1" dirty="0" smtClean="0"/>
              <a:t>COMMIT 9 : </a:t>
            </a:r>
            <a:r>
              <a:rPr lang="fr-FR" sz="1200" dirty="0"/>
              <a:t>Finalisation : corrections responsive, optimisation du code et </a:t>
            </a:r>
            <a:r>
              <a:rPr lang="fr-FR" sz="1200" dirty="0" smtClean="0"/>
              <a:t>commentaires</a:t>
            </a:r>
          </a:p>
          <a:p>
            <a:pPr marL="0" indent="0">
              <a:buNone/>
            </a:pPr>
            <a:r>
              <a:rPr lang="fr-FR" sz="1200" dirty="0" smtClean="0"/>
              <a:t>	</a:t>
            </a:r>
            <a:r>
              <a:rPr lang="fr-FR" sz="1200" b="1" dirty="0" smtClean="0"/>
              <a:t>COMMIT 10 : </a:t>
            </a:r>
            <a:r>
              <a:rPr lang="fr-FR" sz="1200" dirty="0"/>
              <a:t>Déploiement : GitHub Pages activé, README finalisé et présentation </a:t>
            </a:r>
            <a:r>
              <a:rPr lang="fr-FR" sz="1200" dirty="0" smtClean="0"/>
              <a:t>PowerPoint ajoutée</a:t>
            </a:r>
          </a:p>
          <a:p>
            <a:r>
              <a:rPr lang="fr-FR" dirty="0" smtClean="0"/>
              <a:t>workflow Git : </a:t>
            </a:r>
            <a:r>
              <a:rPr lang="fr-FR" sz="1200" dirty="0" smtClean="0"/>
              <a:t>git status, git add, </a:t>
            </a:r>
            <a:r>
              <a:rPr lang="fr-FR" sz="1200" dirty="0"/>
              <a:t>git commit -m </a:t>
            </a:r>
            <a:r>
              <a:rPr lang="fr-FR" sz="1200" dirty="0" smtClean="0"/>
              <a:t>" message "  , git push</a:t>
            </a:r>
          </a:p>
          <a:p>
            <a:r>
              <a:rPr lang="fr-FR" dirty="0"/>
              <a:t>lien GitHub </a:t>
            </a:r>
            <a:r>
              <a:rPr lang="fr-FR" dirty="0"/>
              <a:t>Pages : </a:t>
            </a:r>
            <a:r>
              <a:rPr lang="fr-FR" sz="1200" dirty="0"/>
              <a:t>https://papeibrahima02.github.io/KA-PapeIbrahima-AfriTalent/</a:t>
            </a:r>
            <a:endParaRPr lang="en-US" sz="1200" dirty="0"/>
          </a:p>
        </p:txBody>
      </p:sp>
    </p:spTree>
    <p:extLst>
      <p:ext uri="{BB962C8B-B14F-4D97-AF65-F5344CB8AC3E}">
        <p14:creationId xmlns:p14="http://schemas.microsoft.com/office/powerpoint/2010/main" val="395591774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DIFFICULTÉS RENCONTRÉES</a:t>
            </a:r>
          </a:p>
        </p:txBody>
      </p:sp>
      <p:sp>
        <p:nvSpPr>
          <p:cNvPr id="3" name="Espace réservé du contenu 2"/>
          <p:cNvSpPr>
            <a:spLocks noGrp="1"/>
          </p:cNvSpPr>
          <p:nvPr>
            <p:ph idx="1"/>
          </p:nvPr>
        </p:nvSpPr>
        <p:spPr>
          <a:xfrm>
            <a:off x="677334" y="1930401"/>
            <a:ext cx="8596668" cy="4110962"/>
          </a:xfrm>
        </p:spPr>
        <p:txBody>
          <a:bodyPr/>
          <a:lstStyle/>
          <a:p>
            <a:r>
              <a:rPr lang="fr-FR" dirty="0"/>
              <a:t>Difficulté 1 : Gestion du Dark </a:t>
            </a:r>
            <a:r>
              <a:rPr lang="fr-FR" dirty="0" smtClean="0"/>
              <a:t>Mode. Mélange </a:t>
            </a:r>
            <a:r>
              <a:rPr lang="fr-FR" dirty="0"/>
              <a:t>des couleurs et problèmes de lisibilité</a:t>
            </a:r>
            <a:r>
              <a:rPr lang="fr-FR" dirty="0" smtClean="0"/>
              <a:t>.</a:t>
            </a:r>
            <a:endParaRPr lang="fr-FR" dirty="0"/>
          </a:p>
          <a:p>
            <a:r>
              <a:rPr lang="en-US" dirty="0" smtClean="0"/>
              <a:t>Solution 1 : </a:t>
            </a:r>
            <a:r>
              <a:rPr lang="fr-FR" dirty="0"/>
              <a:t>Création d'une palette dédiée au Dark Mode à l'aide des variables CSS</a:t>
            </a:r>
            <a:r>
              <a:rPr lang="fr-FR" dirty="0" smtClean="0"/>
              <a:t>.</a:t>
            </a:r>
          </a:p>
          <a:p>
            <a:pPr marL="0" indent="0">
              <a:buNone/>
            </a:pPr>
            <a:endParaRPr lang="fr-FR" dirty="0" smtClean="0"/>
          </a:p>
          <a:p>
            <a:r>
              <a:rPr lang="fr-FR" dirty="0" smtClean="0"/>
              <a:t>Difficulté 2 </a:t>
            </a:r>
            <a:r>
              <a:rPr lang="fr-FR" dirty="0"/>
              <a:t>: Sauvegarde du thème avec localStorage </a:t>
            </a:r>
            <a:endParaRPr lang="fr-FR" dirty="0" smtClean="0"/>
          </a:p>
          <a:p>
            <a:r>
              <a:rPr lang="fr-FR" dirty="0" smtClean="0"/>
              <a:t>Solution 2 </a:t>
            </a:r>
            <a:r>
              <a:rPr lang="fr-FR" dirty="0"/>
              <a:t>: Utilisation de setItem() et getItem</a:t>
            </a:r>
            <a:r>
              <a:rPr lang="fr-FR" dirty="0" smtClean="0"/>
              <a:t>()</a:t>
            </a:r>
          </a:p>
          <a:p>
            <a:endParaRPr lang="en-US" dirty="0"/>
          </a:p>
          <a:p>
            <a:r>
              <a:rPr lang="fr-FR" dirty="0"/>
              <a:t>Difficulté </a:t>
            </a:r>
            <a:r>
              <a:rPr lang="fr-FR" dirty="0" smtClean="0"/>
              <a:t>3 : Déclenchement </a:t>
            </a:r>
            <a:r>
              <a:rPr lang="fr-FR" dirty="0"/>
              <a:t>des animations au </a:t>
            </a:r>
            <a:r>
              <a:rPr lang="fr-FR" dirty="0" smtClean="0"/>
              <a:t>scroll</a:t>
            </a:r>
            <a:endParaRPr lang="fr-FR" dirty="0"/>
          </a:p>
          <a:p>
            <a:r>
              <a:rPr lang="en-US" dirty="0" smtClean="0"/>
              <a:t>Solution 3 : </a:t>
            </a:r>
            <a:r>
              <a:rPr lang="fr-FR" dirty="0"/>
              <a:t>Utilisation de IntersectionObserver.</a:t>
            </a:r>
          </a:p>
        </p:txBody>
      </p:sp>
    </p:spTree>
    <p:extLst>
      <p:ext uri="{BB962C8B-B14F-4D97-AF65-F5344CB8AC3E}">
        <p14:creationId xmlns:p14="http://schemas.microsoft.com/office/powerpoint/2010/main" val="37753818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RESSOURCES </a:t>
            </a:r>
            <a:r>
              <a:rPr lang="fr-FR" dirty="0"/>
              <a:t>et documentation utilisées</a:t>
            </a:r>
            <a:endParaRPr lang="fr-FR" dirty="0"/>
          </a:p>
        </p:txBody>
      </p:sp>
      <p:sp>
        <p:nvSpPr>
          <p:cNvPr id="3" name="Espace réservé du contenu 2"/>
          <p:cNvSpPr>
            <a:spLocks noGrp="1"/>
          </p:cNvSpPr>
          <p:nvPr>
            <p:ph idx="1"/>
          </p:nvPr>
        </p:nvSpPr>
        <p:spPr/>
        <p:txBody>
          <a:bodyPr/>
          <a:lstStyle/>
          <a:p>
            <a:r>
              <a:rPr lang="fr-FR" dirty="0"/>
              <a:t>MDN Web </a:t>
            </a:r>
            <a:r>
              <a:rPr lang="fr-FR" dirty="0" smtClean="0"/>
              <a:t>Docs</a:t>
            </a:r>
          </a:p>
          <a:p>
            <a:r>
              <a:rPr lang="fr-FR" dirty="0"/>
              <a:t>W3Schools</a:t>
            </a:r>
          </a:p>
          <a:p>
            <a:r>
              <a:rPr lang="fr-FR" dirty="0"/>
              <a:t>Bootstrap 5 Docs</a:t>
            </a:r>
          </a:p>
          <a:p>
            <a:r>
              <a:rPr lang="fr-FR" dirty="0"/>
              <a:t>Bootstrap Icons</a:t>
            </a:r>
          </a:p>
          <a:p>
            <a:r>
              <a:rPr lang="fr-FR" dirty="0"/>
              <a:t>GitHub Docs</a:t>
            </a:r>
          </a:p>
          <a:p>
            <a:r>
              <a:rPr lang="fr-FR" dirty="0"/>
              <a:t>W3C Validator</a:t>
            </a:r>
          </a:p>
          <a:p>
            <a:r>
              <a:rPr lang="fr-FR" dirty="0"/>
              <a:t>Unsplash</a:t>
            </a:r>
          </a:p>
          <a:p>
            <a:r>
              <a:rPr lang="fr-FR" dirty="0"/>
              <a:t>Coolors</a:t>
            </a:r>
          </a:p>
          <a:p>
            <a:r>
              <a:rPr lang="fr-FR" dirty="0"/>
              <a:t>Google Fonts</a:t>
            </a:r>
          </a:p>
          <a:p>
            <a:endParaRPr lang="fr-FR" dirty="0"/>
          </a:p>
        </p:txBody>
      </p:sp>
    </p:spTree>
    <p:extLst>
      <p:ext uri="{BB962C8B-B14F-4D97-AF65-F5344CB8AC3E}">
        <p14:creationId xmlns:p14="http://schemas.microsoft.com/office/powerpoint/2010/main" val="189415470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Démonstration live du site</a:t>
            </a:r>
            <a:endParaRPr lang="fr-FR" dirty="0"/>
          </a:p>
        </p:txBody>
      </p:sp>
      <p:sp>
        <p:nvSpPr>
          <p:cNvPr id="3" name="Espace réservé du contenu 2"/>
          <p:cNvSpPr>
            <a:spLocks noGrp="1"/>
          </p:cNvSpPr>
          <p:nvPr>
            <p:ph sz="half" idx="1"/>
          </p:nvPr>
        </p:nvSpPr>
        <p:spPr/>
        <p:txBody>
          <a:bodyPr/>
          <a:lstStyle/>
          <a:p>
            <a:r>
              <a:rPr lang="fr-FR" dirty="0"/>
              <a:t>Navigation entre les </a:t>
            </a:r>
            <a:r>
              <a:rPr lang="fr-FR" dirty="0" smtClean="0"/>
              <a:t>pages</a:t>
            </a:r>
          </a:p>
          <a:p>
            <a:r>
              <a:rPr lang="fr-FR" dirty="0" smtClean="0"/>
              <a:t>Responsive Design</a:t>
            </a:r>
          </a:p>
          <a:p>
            <a:r>
              <a:rPr lang="fr-FR" dirty="0"/>
              <a:t>Dark/Light </a:t>
            </a:r>
            <a:r>
              <a:rPr lang="fr-FR" dirty="0" smtClean="0"/>
              <a:t>Mode</a:t>
            </a:r>
          </a:p>
          <a:p>
            <a:r>
              <a:rPr lang="fr-FR" dirty="0"/>
              <a:t>Compteurs </a:t>
            </a:r>
            <a:r>
              <a:rPr lang="fr-FR" dirty="0" smtClean="0"/>
              <a:t>animés</a:t>
            </a:r>
          </a:p>
          <a:p>
            <a:r>
              <a:rPr lang="fr-FR" dirty="0"/>
              <a:t>Filtrage des </a:t>
            </a:r>
            <a:r>
              <a:rPr lang="fr-FR" dirty="0" smtClean="0"/>
              <a:t>freelances</a:t>
            </a:r>
          </a:p>
          <a:p>
            <a:r>
              <a:rPr lang="fr-FR" dirty="0"/>
              <a:t>Formulaire de </a:t>
            </a:r>
            <a:r>
              <a:rPr lang="fr-FR" dirty="0" smtClean="0"/>
              <a:t>contact</a:t>
            </a:r>
            <a:endParaRPr lang="fr-FR" dirty="0"/>
          </a:p>
          <a:p>
            <a:endParaRPr lang="en-US" dirty="0" smtClean="0"/>
          </a:p>
          <a:p>
            <a:endParaRPr lang="en-US" dirty="0"/>
          </a:p>
          <a:p>
            <a:pPr marL="0" indent="0">
              <a:buNone/>
            </a:pPr>
            <a:r>
              <a:rPr lang="fr-FR" dirty="0" smtClean="0"/>
              <a:t>« Je </a:t>
            </a:r>
            <a:r>
              <a:rPr lang="fr-FR" dirty="0"/>
              <a:t>vais maintenant vous présenter le fonctionnement du site en direct</a:t>
            </a:r>
            <a:r>
              <a:rPr lang="fr-FR" dirty="0" smtClean="0"/>
              <a:t>. »</a:t>
            </a:r>
            <a:endParaRPr lang="fr-FR" dirty="0"/>
          </a:p>
        </p:txBody>
      </p:sp>
      <p:pic>
        <p:nvPicPr>
          <p:cNvPr id="5" name="Espace réservé du contenu 4"/>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4861369" y="2160589"/>
            <a:ext cx="4692336" cy="2492803"/>
          </a:xfrm>
        </p:spPr>
      </p:pic>
    </p:spTree>
    <p:extLst>
      <p:ext uri="{BB962C8B-B14F-4D97-AF65-F5344CB8AC3E}">
        <p14:creationId xmlns:p14="http://schemas.microsoft.com/office/powerpoint/2010/main" val="241203074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Conclusion</a:t>
            </a:r>
            <a:endParaRPr lang="fr-FR" dirty="0"/>
          </a:p>
        </p:txBody>
      </p:sp>
      <p:sp>
        <p:nvSpPr>
          <p:cNvPr id="3" name="Espace réservé du contenu 2"/>
          <p:cNvSpPr>
            <a:spLocks noGrp="1"/>
          </p:cNvSpPr>
          <p:nvPr>
            <p:ph idx="1"/>
          </p:nvPr>
        </p:nvSpPr>
        <p:spPr/>
        <p:txBody>
          <a:bodyPr/>
          <a:lstStyle/>
          <a:p>
            <a:r>
              <a:rPr lang="fr-FR" dirty="0"/>
              <a:t>Compétences acquises </a:t>
            </a:r>
            <a:r>
              <a:rPr lang="fr-FR" dirty="0" smtClean="0"/>
              <a:t>:</a:t>
            </a:r>
          </a:p>
          <a:p>
            <a:pPr lvl="1">
              <a:buFont typeface="Wingdings" panose="05000000000000000000" pitchFamily="2" charset="2"/>
              <a:buChar char="v"/>
            </a:pPr>
            <a:r>
              <a:rPr lang="fr-FR" dirty="0" smtClean="0"/>
              <a:t>Bootstrap</a:t>
            </a:r>
          </a:p>
          <a:p>
            <a:pPr lvl="1">
              <a:buFont typeface="Wingdings" panose="05000000000000000000" pitchFamily="2" charset="2"/>
              <a:buChar char="v"/>
            </a:pPr>
            <a:r>
              <a:rPr lang="fr-FR" dirty="0" smtClean="0"/>
              <a:t>JavaScript</a:t>
            </a:r>
          </a:p>
          <a:p>
            <a:pPr lvl="1">
              <a:buFont typeface="Wingdings" panose="05000000000000000000" pitchFamily="2" charset="2"/>
              <a:buChar char="v"/>
            </a:pPr>
            <a:r>
              <a:rPr lang="fr-FR" dirty="0"/>
              <a:t>Git et GitHub</a:t>
            </a:r>
          </a:p>
        </p:txBody>
      </p:sp>
      <p:sp>
        <p:nvSpPr>
          <p:cNvPr id="4" name="Espace réservé du contenu 3"/>
          <p:cNvSpPr>
            <a:spLocks noGrp="1"/>
          </p:cNvSpPr>
          <p:nvPr>
            <p:ph sz="half" idx="4294967295"/>
          </p:nvPr>
        </p:nvSpPr>
        <p:spPr>
          <a:xfrm>
            <a:off x="677334" y="4100975"/>
            <a:ext cx="4184650" cy="3881437"/>
          </a:xfrm>
        </p:spPr>
        <p:txBody>
          <a:bodyPr/>
          <a:lstStyle/>
          <a:p>
            <a:r>
              <a:rPr lang="fr-FR" dirty="0"/>
              <a:t>Objectifs atteints </a:t>
            </a:r>
            <a:r>
              <a:rPr lang="fr-FR" dirty="0" smtClean="0"/>
              <a:t>:</a:t>
            </a:r>
          </a:p>
          <a:p>
            <a:pPr marL="0" indent="0">
              <a:buNone/>
            </a:pPr>
            <a:r>
              <a:rPr lang="fr-FR" dirty="0"/>
              <a:t>Création d'une plateforme </a:t>
            </a:r>
            <a:r>
              <a:rPr lang="fr-FR" dirty="0" smtClean="0"/>
              <a:t>moderne et responsive.</a:t>
            </a:r>
            <a:endParaRPr lang="fr-FR" dirty="0"/>
          </a:p>
        </p:txBody>
      </p:sp>
    </p:spTree>
    <p:extLst>
      <p:ext uri="{BB962C8B-B14F-4D97-AF65-F5344CB8AC3E}">
        <p14:creationId xmlns:p14="http://schemas.microsoft.com/office/powerpoint/2010/main" val="42644488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PERSPECTIVES D'AMÉLIORATION</a:t>
            </a:r>
          </a:p>
        </p:txBody>
      </p:sp>
      <p:sp>
        <p:nvSpPr>
          <p:cNvPr id="3" name="Espace réservé du contenu 2"/>
          <p:cNvSpPr>
            <a:spLocks noGrp="1"/>
          </p:cNvSpPr>
          <p:nvPr>
            <p:ph idx="1"/>
          </p:nvPr>
        </p:nvSpPr>
        <p:spPr/>
        <p:txBody>
          <a:bodyPr/>
          <a:lstStyle/>
          <a:p>
            <a:r>
              <a:rPr lang="fr-FR" dirty="0"/>
              <a:t>Fonctionnalités futures </a:t>
            </a:r>
            <a:r>
              <a:rPr lang="fr-FR" dirty="0" smtClean="0"/>
              <a:t>:</a:t>
            </a:r>
          </a:p>
          <a:p>
            <a:pPr lvl="1">
              <a:buFont typeface="Wingdings" panose="05000000000000000000" pitchFamily="2" charset="2"/>
              <a:buChar char="v"/>
            </a:pPr>
            <a:r>
              <a:rPr lang="fr-FR" dirty="0"/>
              <a:t>Authentification </a:t>
            </a:r>
            <a:r>
              <a:rPr lang="fr-FR" dirty="0" smtClean="0"/>
              <a:t>utilisateur</a:t>
            </a:r>
          </a:p>
          <a:p>
            <a:pPr lvl="1">
              <a:buFont typeface="Wingdings" panose="05000000000000000000" pitchFamily="2" charset="2"/>
              <a:buChar char="v"/>
            </a:pPr>
            <a:r>
              <a:rPr lang="fr-FR" dirty="0"/>
              <a:t>Base de </a:t>
            </a:r>
            <a:r>
              <a:rPr lang="fr-FR" dirty="0" smtClean="0"/>
              <a:t>données</a:t>
            </a:r>
          </a:p>
          <a:p>
            <a:pPr lvl="1">
              <a:buFont typeface="Wingdings" panose="05000000000000000000" pitchFamily="2" charset="2"/>
              <a:buChar char="v"/>
            </a:pPr>
            <a:r>
              <a:rPr lang="fr-FR" dirty="0"/>
              <a:t>Paiement en </a:t>
            </a:r>
            <a:r>
              <a:rPr lang="fr-FR" dirty="0" smtClean="0"/>
              <a:t>ligne</a:t>
            </a:r>
          </a:p>
          <a:p>
            <a:pPr marL="457200" lvl="1" indent="0">
              <a:buNone/>
            </a:pPr>
            <a:endParaRPr lang="en-US" dirty="0"/>
          </a:p>
          <a:p>
            <a:pPr marL="457200" lvl="1" indent="0">
              <a:buNone/>
            </a:pPr>
            <a:endParaRPr lang="en-US" dirty="0" smtClean="0"/>
          </a:p>
          <a:p>
            <a:pPr marL="457200" lvl="1" indent="0">
              <a:buNone/>
            </a:pPr>
            <a:endParaRPr lang="en-US" dirty="0"/>
          </a:p>
        </p:txBody>
      </p:sp>
    </p:spTree>
    <p:extLst>
      <p:ext uri="{BB962C8B-B14F-4D97-AF65-F5344CB8AC3E}">
        <p14:creationId xmlns:p14="http://schemas.microsoft.com/office/powerpoint/2010/main" val="34334867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p:txBody>
          <a:bodyPr/>
          <a:lstStyle/>
          <a:p>
            <a:r>
              <a:rPr lang="fr-FR" dirty="0"/>
              <a:t>Merci pour votre attention.</a:t>
            </a:r>
            <a:br>
              <a:rPr lang="fr-FR" dirty="0"/>
            </a:br>
            <a:r>
              <a:rPr lang="fr-FR" dirty="0"/>
              <a:t>Questions ?</a:t>
            </a:r>
          </a:p>
        </p:txBody>
      </p:sp>
    </p:spTree>
    <p:extLst>
      <p:ext uri="{BB962C8B-B14F-4D97-AF65-F5344CB8AC3E}">
        <p14:creationId xmlns:p14="http://schemas.microsoft.com/office/powerpoint/2010/main" val="32067941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Facette">
  <a:themeElements>
    <a:clrScheme name="Facette">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te">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te">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11077</TotalTime>
  <Words>423</Words>
  <Application>Microsoft Office PowerPoint</Application>
  <PresentationFormat>Grand écran</PresentationFormat>
  <Paragraphs>130</Paragraphs>
  <Slides>16</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16</vt:i4>
      </vt:variant>
    </vt:vector>
  </HeadingPairs>
  <TitlesOfParts>
    <vt:vector size="22" baseType="lpstr">
      <vt:lpstr>Arial</vt:lpstr>
      <vt:lpstr>Courier New</vt:lpstr>
      <vt:lpstr>Trebuchet MS</vt:lpstr>
      <vt:lpstr>Wingdings</vt:lpstr>
      <vt:lpstr>Wingdings 3</vt:lpstr>
      <vt:lpstr>Facette</vt:lpstr>
      <vt:lpstr>PAGE DE TITRE</vt:lpstr>
      <vt:lpstr>SOMMAIRE</vt:lpstr>
      <vt:lpstr>PRÉSENTATION DU PROJET</vt:lpstr>
      <vt:lpstr>CHOIX DE DESIGN</vt:lpstr>
      <vt:lpstr>TYPOGRAPHIE ET INSPIRATIONS</vt:lpstr>
      <vt:lpstr>ARCHITECTURE DU SITE</vt:lpstr>
      <vt:lpstr>Capture d’ecran</vt:lpstr>
      <vt:lpstr>Points techniques</vt:lpstr>
      <vt:lpstr>Points techniques</vt:lpstr>
      <vt:lpstr>GitHub </vt:lpstr>
      <vt:lpstr>DIFFICULTÉS RENCONTRÉES</vt:lpstr>
      <vt:lpstr>RESSOURCES et documentation utilisées</vt:lpstr>
      <vt:lpstr>Démonstration live du site</vt:lpstr>
      <vt:lpstr>Conclusion</vt:lpstr>
      <vt:lpstr>PERSPECTIVES D'AMÉLIORATION</vt:lpstr>
      <vt:lpstr>Merci pour votre attention. Questions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RAMA  KEBE</dc:creator>
  <cp:lastModifiedBy>RAMA  KEBE</cp:lastModifiedBy>
  <cp:revision>41</cp:revision>
  <dcterms:created xsi:type="dcterms:W3CDTF">2026-06-08T22:14:03Z</dcterms:created>
  <dcterms:modified xsi:type="dcterms:W3CDTF">2026-06-21T13:59:33Z</dcterms:modified>
</cp:coreProperties>
</file>